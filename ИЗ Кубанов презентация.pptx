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4" r:id="rId1"/>
  </p:sldMasterIdLst>
  <p:sldIdLst>
    <p:sldId id="256" r:id="rId2"/>
    <p:sldId id="257" r:id="rId3"/>
    <p:sldId id="258" r:id="rId4"/>
    <p:sldId id="268" r:id="rId5"/>
    <p:sldId id="269" r:id="rId6"/>
    <p:sldId id="259" r:id="rId7"/>
    <p:sldId id="260" r:id="rId8"/>
    <p:sldId id="262" r:id="rId9"/>
    <p:sldId id="270" r:id="rId10"/>
    <p:sldId id="264" r:id="rId11"/>
    <p:sldId id="265" r:id="rId12"/>
    <p:sldId id="266" r:id="rId13"/>
    <p:sldId id="271" r:id="rId14"/>
    <p:sldId id="272" r:id="rId15"/>
    <p:sldId id="273" r:id="rId16"/>
    <p:sldId id="277" r:id="rId17"/>
    <p:sldId id="278" r:id="rId18"/>
    <p:sldId id="263" r:id="rId19"/>
    <p:sldId id="274" r:id="rId20"/>
    <p:sldId id="275" r:id="rId21"/>
    <p:sldId id="276" r:id="rId22"/>
    <p:sldId id="267" r:id="rId23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620"/>
    <a:srgbClr val="F6CA2A"/>
    <a:srgbClr val="F7D147"/>
    <a:srgbClr val="EAEA10"/>
    <a:srgbClr val="E8EB5F"/>
    <a:srgbClr val="DCC51E"/>
    <a:srgbClr val="E1D719"/>
    <a:srgbClr val="224A5C"/>
    <a:srgbClr val="4D33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1" autoAdjust="0"/>
    <p:restoredTop sz="94660"/>
  </p:normalViewPr>
  <p:slideViewPr>
    <p:cSldViewPr>
      <p:cViewPr varScale="1">
        <p:scale>
          <a:sx n="50" d="100"/>
          <a:sy n="50" d="100"/>
        </p:scale>
        <p:origin x="-557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 bwMode="ltGray">
          <a:xfrm>
            <a:off x="1" y="0"/>
            <a:ext cx="20104098" cy="8468704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497" tIns="89748" rIns="179497" bIns="89748"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07807" y="5534042"/>
            <a:ext cx="17758622" cy="2759481"/>
          </a:xfrm>
        </p:spPr>
        <p:txBody>
          <a:bodyPr vert="horz" lIns="179497" tIns="0" rIns="89748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9200"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7807" y="3015827"/>
            <a:ext cx="17758622" cy="2472978"/>
          </a:xfrm>
        </p:spPr>
        <p:txBody>
          <a:bodyPr lIns="233346" tIns="0" rIns="89748" bIns="0" anchor="b"/>
          <a:lstStyle>
            <a:lvl1pPr marL="0" indent="0" algn="l">
              <a:buNone/>
              <a:defRPr sz="3900">
                <a:solidFill>
                  <a:srgbClr val="FFFFFF"/>
                </a:solidFill>
              </a:defRPr>
            </a:lvl1pPr>
            <a:lvl2pPr marL="8974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949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924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589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48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384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2823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179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0" y="8457002"/>
            <a:ext cx="20104100" cy="753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497" tIns="89748" rIns="179497" bIns="89748"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5205" y="256345"/>
            <a:ext cx="18093690" cy="2065841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 bwMode="ltGray">
          <a:xfrm>
            <a:off x="0" y="2"/>
            <a:ext cx="20104100" cy="4291748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497" tIns="89748" rIns="179497" bIns="89748"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invGray">
          <a:xfrm>
            <a:off x="0" y="4291748"/>
            <a:ext cx="20104100" cy="753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497" tIns="89748" rIns="179497" bIns="89748"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48536" y="196029"/>
            <a:ext cx="17617893" cy="2699165"/>
          </a:xfrm>
        </p:spPr>
        <p:txBody>
          <a:bodyPr vert="horz" lIns="179497" tIns="0" rIns="179497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92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28432" y="3015827"/>
            <a:ext cx="17637997" cy="1130935"/>
          </a:xfrm>
        </p:spPr>
        <p:txBody>
          <a:bodyPr lIns="287195" tIns="0" rIns="89748" bIns="0" anchor="t"/>
          <a:lstStyle>
            <a:lvl1pPr marL="0" indent="0">
              <a:buNone/>
              <a:defRPr sz="3900">
                <a:solidFill>
                  <a:srgbClr val="FFFFFF"/>
                </a:solidFill>
              </a:defRPr>
            </a:lvl1pPr>
            <a:lvl2pPr marL="897484" indent="0">
              <a:buNone/>
              <a:defRPr sz="3500">
                <a:solidFill>
                  <a:schemeClr val="tx1">
                    <a:tint val="75000"/>
                  </a:schemeClr>
                </a:solidFill>
              </a:defRPr>
            </a:lvl2pPr>
            <a:lvl3pPr marL="1794967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3pPr>
            <a:lvl4pPr marL="2692451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4pPr>
            <a:lvl5pPr marL="3589934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5pPr>
            <a:lvl6pPr marL="4487418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6pPr>
            <a:lvl7pPr marL="5384902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7pPr>
            <a:lvl8pPr marL="6282385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8pPr>
            <a:lvl9pPr marL="717986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05205" y="2925352"/>
            <a:ext cx="8879311" cy="7625015"/>
          </a:xfrm>
        </p:spPr>
        <p:txBody>
          <a:bodyPr lIns="179497"/>
          <a:lstStyle>
            <a:lvl1pPr>
              <a:defRPr sz="5500"/>
            </a:lvl1pPr>
            <a:lvl2pPr>
              <a:defRPr sz="47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219584" y="2925352"/>
            <a:ext cx="8879311" cy="7625015"/>
          </a:xfrm>
        </p:spPr>
        <p:txBody>
          <a:bodyPr/>
          <a:lstStyle>
            <a:lvl1pPr>
              <a:defRPr sz="5500"/>
            </a:lvl1pPr>
            <a:lvl2pPr>
              <a:defRPr sz="47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5205" y="2801756"/>
            <a:ext cx="8882802" cy="1179673"/>
          </a:xfrm>
        </p:spPr>
        <p:txBody>
          <a:bodyPr lIns="287195" anchor="ctr"/>
          <a:lstStyle>
            <a:lvl1pPr marL="0" indent="0">
              <a:buNone/>
              <a:defRPr sz="4500" b="1" cap="all" baseline="0"/>
            </a:lvl1pPr>
            <a:lvl2pPr marL="897484" indent="0">
              <a:buNone/>
              <a:defRPr sz="3900" b="1"/>
            </a:lvl2pPr>
            <a:lvl3pPr marL="1794967" indent="0">
              <a:buNone/>
              <a:defRPr sz="3500" b="1"/>
            </a:lvl3pPr>
            <a:lvl4pPr marL="2692451" indent="0">
              <a:buNone/>
              <a:defRPr sz="3100" b="1"/>
            </a:lvl4pPr>
            <a:lvl5pPr marL="3589934" indent="0">
              <a:buNone/>
              <a:defRPr sz="3100" b="1"/>
            </a:lvl5pPr>
            <a:lvl6pPr marL="4487418" indent="0">
              <a:buNone/>
              <a:defRPr sz="3100" b="1"/>
            </a:lvl6pPr>
            <a:lvl7pPr marL="5384902" indent="0">
              <a:buNone/>
              <a:defRPr sz="3100" b="1"/>
            </a:lvl7pPr>
            <a:lvl8pPr marL="6282385" indent="0">
              <a:buNone/>
              <a:defRPr sz="3100" b="1"/>
            </a:lvl8pPr>
            <a:lvl9pPr marL="7179869" indent="0">
              <a:buNone/>
              <a:defRPr sz="3100" b="1"/>
            </a:lvl9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05205" y="4039427"/>
            <a:ext cx="8882802" cy="6515967"/>
          </a:xfrm>
        </p:spPr>
        <p:txBody>
          <a:bodyPr/>
          <a:lstStyle>
            <a:lvl1pPr>
              <a:defRPr sz="47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10212605" y="2801756"/>
            <a:ext cx="8886291" cy="1179673"/>
          </a:xfrm>
        </p:spPr>
        <p:txBody>
          <a:bodyPr lIns="287195" anchor="ctr"/>
          <a:lstStyle>
            <a:lvl1pPr marL="0" indent="0">
              <a:buNone/>
              <a:defRPr sz="4500" b="1" cap="all" baseline="0"/>
            </a:lvl1pPr>
            <a:lvl2pPr marL="897484" indent="0">
              <a:buNone/>
              <a:defRPr sz="3900" b="1"/>
            </a:lvl2pPr>
            <a:lvl3pPr marL="1794967" indent="0">
              <a:buNone/>
              <a:defRPr sz="3500" b="1"/>
            </a:lvl3pPr>
            <a:lvl4pPr marL="2692451" indent="0">
              <a:buNone/>
              <a:defRPr sz="3100" b="1"/>
            </a:lvl4pPr>
            <a:lvl5pPr marL="3589934" indent="0">
              <a:buNone/>
              <a:defRPr sz="3100" b="1"/>
            </a:lvl5pPr>
            <a:lvl6pPr marL="4487418" indent="0">
              <a:buNone/>
              <a:defRPr sz="3100" b="1"/>
            </a:lvl6pPr>
            <a:lvl7pPr marL="5384902" indent="0">
              <a:buNone/>
              <a:defRPr sz="3100" b="1"/>
            </a:lvl7pPr>
            <a:lvl8pPr marL="6282385" indent="0">
              <a:buNone/>
              <a:defRPr sz="3100" b="1"/>
            </a:lvl8pPr>
            <a:lvl9pPr marL="7179869" indent="0">
              <a:buNone/>
              <a:defRPr sz="3100" b="1"/>
            </a:lvl9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10212605" y="4039427"/>
            <a:ext cx="8886291" cy="6515967"/>
          </a:xfrm>
        </p:spPr>
        <p:txBody>
          <a:bodyPr/>
          <a:lstStyle>
            <a:lvl1pPr>
              <a:defRPr sz="47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  <a:lvl6pPr>
              <a:defRPr sz="3100"/>
            </a:lvl6pPr>
            <a:lvl7pPr>
              <a:defRPr sz="3100"/>
            </a:lvl7pPr>
            <a:lvl8pPr>
              <a:defRPr sz="3100"/>
            </a:lvl8pPr>
            <a:lvl9pPr>
              <a:defRPr sz="3100"/>
            </a:lvl9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9010" y="251319"/>
            <a:ext cx="5548732" cy="1613467"/>
          </a:xfrm>
        </p:spPr>
        <p:txBody>
          <a:bodyPr vert="horz" lIns="143597" rIns="89748" bIns="0" rtlCol="0" anchor="b">
            <a:normAutofit/>
            <a:sp3d prstMaterial="matte"/>
          </a:bodyPr>
          <a:lstStyle>
            <a:lvl1pPr algn="l">
              <a:defRPr sz="3900" b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38437" y="2874556"/>
            <a:ext cx="13017187" cy="7517939"/>
          </a:xfrm>
        </p:spPr>
        <p:txBody>
          <a:bodyPr/>
          <a:lstStyle>
            <a:lvl1pPr>
              <a:defRPr sz="6300"/>
            </a:lvl1pPr>
            <a:lvl2pPr>
              <a:defRPr sz="5500"/>
            </a:lvl2pPr>
            <a:lvl3pPr>
              <a:defRPr sz="4700"/>
            </a:lvl3pPr>
            <a:lvl4pPr>
              <a:defRPr sz="3900"/>
            </a:lvl4pPr>
            <a:lvl5pPr>
              <a:defRPr sz="3900"/>
            </a:lvl5pPr>
            <a:lvl6pPr>
              <a:defRPr sz="3900"/>
            </a:lvl6pPr>
            <a:lvl7pPr>
              <a:defRPr sz="3900"/>
            </a:lvl7pPr>
            <a:lvl8pPr>
              <a:defRPr sz="3900"/>
            </a:lvl8pPr>
            <a:lvl9pPr>
              <a:defRPr sz="3900"/>
            </a:lvl9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69010" y="2852928"/>
            <a:ext cx="5428107" cy="7539567"/>
          </a:xfrm>
        </p:spPr>
        <p:txBody>
          <a:bodyPr/>
          <a:lstStyle>
            <a:lvl1pPr marL="0" indent="0">
              <a:buNone/>
              <a:defRPr sz="2700"/>
            </a:lvl1pPr>
            <a:lvl2pPr marL="897484" indent="0">
              <a:buNone/>
              <a:defRPr sz="2400"/>
            </a:lvl2pPr>
            <a:lvl3pPr marL="1794967" indent="0">
              <a:buNone/>
              <a:defRPr sz="2000"/>
            </a:lvl3pPr>
            <a:lvl4pPr marL="2692451" indent="0">
              <a:buNone/>
              <a:defRPr sz="1800"/>
            </a:lvl4pPr>
            <a:lvl5pPr marL="3589934" indent="0">
              <a:buNone/>
              <a:defRPr sz="1800"/>
            </a:lvl5pPr>
            <a:lvl6pPr marL="4487418" indent="0">
              <a:buNone/>
              <a:defRPr sz="1800"/>
            </a:lvl6pPr>
            <a:lvl7pPr marL="5384902" indent="0">
              <a:buNone/>
              <a:defRPr sz="1800"/>
            </a:lvl7pPr>
            <a:lvl8pPr marL="6282385" indent="0">
              <a:buNone/>
              <a:defRPr sz="1800"/>
            </a:lvl8pPr>
            <a:lvl9pPr marL="7179869" indent="0">
              <a:buNone/>
              <a:defRPr sz="1800"/>
            </a:lvl9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Прямоугольник 11"/>
          <p:cNvSpPr/>
          <p:nvPr/>
        </p:nvSpPr>
        <p:spPr bwMode="invGray">
          <a:xfrm>
            <a:off x="6278655" y="0"/>
            <a:ext cx="100521" cy="2397582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497" tIns="89748" rIns="179497" bIns="89748"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 bwMode="invGray">
          <a:xfrm>
            <a:off x="6278655" y="0"/>
            <a:ext cx="100521" cy="2397582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497" tIns="89748" rIns="179497" bIns="89748"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1874" y="256345"/>
            <a:ext cx="5551823" cy="1613467"/>
          </a:xfrm>
        </p:spPr>
        <p:txBody>
          <a:bodyPr lIns="143597" bIns="0" anchor="b">
            <a:sp3d prstMaterial="matte"/>
          </a:bodyPr>
          <a:lstStyle>
            <a:lvl1pPr algn="l">
              <a:defRPr sz="3900" b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384339" y="2448558"/>
            <a:ext cx="13735596" cy="88607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6300"/>
            </a:lvl1pPr>
            <a:lvl2pPr marL="897484" indent="0">
              <a:buNone/>
              <a:defRPr sz="5500"/>
            </a:lvl2pPr>
            <a:lvl3pPr marL="1794967" indent="0">
              <a:buNone/>
              <a:defRPr sz="4700"/>
            </a:lvl3pPr>
            <a:lvl4pPr marL="2692451" indent="0">
              <a:buNone/>
              <a:defRPr sz="3900"/>
            </a:lvl4pPr>
            <a:lvl5pPr marL="3589934" indent="0">
              <a:buNone/>
              <a:defRPr sz="3900"/>
            </a:lvl5pPr>
            <a:lvl6pPr marL="4487418" indent="0">
              <a:buNone/>
              <a:defRPr sz="3900"/>
            </a:lvl6pPr>
            <a:lvl7pPr marL="5384902" indent="0">
              <a:buNone/>
              <a:defRPr sz="3900"/>
            </a:lvl7pPr>
            <a:lvl8pPr marL="6282385" indent="0">
              <a:buNone/>
              <a:defRPr sz="3900"/>
            </a:lvl8pPr>
            <a:lvl9pPr marL="7179869" indent="0">
              <a:buNone/>
              <a:defRPr sz="3900"/>
            </a:lvl9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61874" y="2849956"/>
            <a:ext cx="5428107" cy="7539567"/>
          </a:xfrm>
        </p:spPr>
        <p:txBody>
          <a:bodyPr/>
          <a:lstStyle>
            <a:lvl1pPr marL="0" indent="0">
              <a:buNone/>
              <a:defRPr sz="2700"/>
            </a:lvl1pPr>
            <a:lvl2pPr marL="897484" indent="0">
              <a:buNone/>
              <a:defRPr sz="2400"/>
            </a:lvl2pPr>
            <a:lvl3pPr marL="1794967" indent="0">
              <a:buNone/>
              <a:defRPr sz="2000"/>
            </a:lvl3pPr>
            <a:lvl4pPr marL="2692451" indent="0">
              <a:buNone/>
              <a:defRPr sz="1800"/>
            </a:lvl4pPr>
            <a:lvl5pPr marL="3589934" indent="0">
              <a:buNone/>
              <a:defRPr sz="1800"/>
            </a:lvl5pPr>
            <a:lvl6pPr marL="4487418" indent="0">
              <a:buNone/>
              <a:defRPr sz="1800"/>
            </a:lvl6pPr>
            <a:lvl7pPr marL="5384902" indent="0">
              <a:buNone/>
              <a:defRPr sz="1800"/>
            </a:lvl7pPr>
            <a:lvl8pPr marL="6282385" indent="0">
              <a:buNone/>
              <a:defRPr sz="1800"/>
            </a:lvl8pPr>
            <a:lvl9pPr marL="7179869" indent="0">
              <a:buNone/>
              <a:defRPr sz="1800"/>
            </a:lvl9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361874" y="1930129"/>
            <a:ext cx="5548732" cy="331741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78655" y="0"/>
            <a:ext cx="100521" cy="113093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497" tIns="89748" rIns="179497" bIns="89748"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 bwMode="invGray">
          <a:xfrm>
            <a:off x="6278655" y="0"/>
            <a:ext cx="100521" cy="113093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497" tIns="89748" rIns="179497" bIns="89748"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6674561" y="1930129"/>
            <a:ext cx="11419129" cy="331741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8334939" y="1930129"/>
            <a:ext cx="1613482" cy="331741"/>
          </a:xfrm>
        </p:spPr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 bwMode="invGray">
          <a:xfrm>
            <a:off x="14508459" y="0"/>
            <a:ext cx="100521" cy="113093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497" tIns="89748" rIns="179497" bIns="89748"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 bwMode="ltGray">
          <a:xfrm>
            <a:off x="14615679" y="0"/>
            <a:ext cx="5528630" cy="1130935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497" tIns="89748" rIns="179497" bIns="89748"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4910541" y="452903"/>
            <a:ext cx="4188354" cy="9649598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005205" y="502639"/>
            <a:ext cx="13235199" cy="9649598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5805646" y="10516903"/>
            <a:ext cx="8434760" cy="602118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21212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 bwMode="invGray">
          <a:xfrm>
            <a:off x="0" y="2367897"/>
            <a:ext cx="20104100" cy="753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497" tIns="89748" rIns="179497" bIns="89748"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Прямоугольник 6"/>
          <p:cNvSpPr/>
          <p:nvPr/>
        </p:nvSpPr>
        <p:spPr bwMode="ltGray">
          <a:xfrm>
            <a:off x="1" y="1"/>
            <a:ext cx="20104098" cy="2364332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497" tIns="89748" rIns="179497" bIns="89748"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5205" y="251319"/>
            <a:ext cx="18093690" cy="2063094"/>
          </a:xfrm>
          <a:prstGeom prst="rect">
            <a:avLst/>
          </a:prstGeom>
        </p:spPr>
        <p:txBody>
          <a:bodyPr vert="horz" lIns="179497" tIns="89748" rIns="89748" bIns="89748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5205" y="2927422"/>
            <a:ext cx="18093690" cy="7627972"/>
          </a:xfrm>
          <a:prstGeom prst="rect">
            <a:avLst/>
          </a:prstGeom>
        </p:spPr>
        <p:txBody>
          <a:bodyPr vert="horz" lIns="107698" tIns="179497" rIns="179497" bIns="89748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005205" y="10681051"/>
            <a:ext cx="4690957" cy="452374"/>
          </a:xfrm>
          <a:prstGeom prst="rect">
            <a:avLst/>
          </a:prstGeom>
        </p:spPr>
        <p:txBody>
          <a:bodyPr vert="horz" lIns="215396" tIns="89748" rIns="89748" bIns="0" rtlCol="0" anchor="b"/>
          <a:lstStyle>
            <a:lvl1pPr algn="l" eaLnBrk="1" latinLnBrk="0" hangingPunct="1">
              <a:defRPr kumimoji="0" sz="24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5805645" y="10681051"/>
            <a:ext cx="12109332" cy="452374"/>
          </a:xfrm>
          <a:prstGeom prst="rect">
            <a:avLst/>
          </a:prstGeom>
        </p:spPr>
        <p:txBody>
          <a:bodyPr vert="horz" lIns="89748" tIns="89748" rIns="89748" bIns="0" rtlCol="0" anchor="b"/>
          <a:lstStyle>
            <a:lvl1pPr algn="l" eaLnBrk="1" latinLnBrk="0" hangingPunct="1">
              <a:defRPr kumimoji="0" sz="24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8038276" y="10681051"/>
            <a:ext cx="1613482" cy="452374"/>
          </a:xfrm>
          <a:prstGeom prst="rect">
            <a:avLst/>
          </a:prstGeom>
        </p:spPr>
        <p:txBody>
          <a:bodyPr vert="horz" lIns="179497" tIns="89748" rIns="179497" bIns="0" rtlCol="0" anchor="b"/>
          <a:lstStyle>
            <a:lvl1pPr algn="r" eaLnBrk="1" latinLnBrk="0" hangingPunct="1">
              <a:defRPr kumimoji="0" sz="24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</p:sldLayoutIdLst>
  <p:txStyles>
    <p:titleStyle>
      <a:lvl1pPr algn="l" rtl="0" eaLnBrk="1" latinLnBrk="0" hangingPunct="1">
        <a:spcBef>
          <a:spcPct val="0"/>
        </a:spcBef>
        <a:buNone/>
        <a:defRPr kumimoji="0" sz="88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861584" indent="-628239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6300" kern="1200">
          <a:solidFill>
            <a:schemeClr val="tx1"/>
          </a:solidFill>
          <a:latin typeface="+mn-lt"/>
          <a:ea typeface="+mn-ea"/>
          <a:cs typeface="+mn-cs"/>
        </a:defRPr>
      </a:lvl1pPr>
      <a:lvl2pPr marL="1435974" indent="-53849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5500" kern="1200">
          <a:solidFill>
            <a:schemeClr val="tx1"/>
          </a:solidFill>
          <a:latin typeface="+mn-lt"/>
          <a:ea typeface="+mn-ea"/>
          <a:cs typeface="+mn-cs"/>
        </a:defRPr>
      </a:lvl2pPr>
      <a:lvl3pPr marL="1956514" indent="-448742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4700" kern="1200">
          <a:solidFill>
            <a:schemeClr val="tx1"/>
          </a:solidFill>
          <a:latin typeface="+mn-lt"/>
          <a:ea typeface="+mn-ea"/>
          <a:cs typeface="+mn-cs"/>
        </a:defRPr>
      </a:lvl3pPr>
      <a:lvl4pPr marL="2387306" indent="-358993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2800149" indent="-358993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39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3195042" indent="-358993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934" indent="-358993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3500" kern="1200">
          <a:solidFill>
            <a:schemeClr val="tx1"/>
          </a:solidFill>
          <a:latin typeface="+mn-lt"/>
          <a:ea typeface="+mn-ea"/>
          <a:cs typeface="+mn-cs"/>
        </a:defRPr>
      </a:lvl7pPr>
      <a:lvl8pPr marL="3984827" indent="-358993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3500" kern="1200">
          <a:solidFill>
            <a:schemeClr val="tx1"/>
          </a:solidFill>
          <a:latin typeface="+mn-lt"/>
          <a:ea typeface="+mn-ea"/>
          <a:cs typeface="+mn-cs"/>
        </a:defRPr>
      </a:lvl8pPr>
      <a:lvl9pPr marL="4379720" indent="-358993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35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89748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79496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269245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358993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44874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538490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62823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71798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885288" y="3749675"/>
            <a:ext cx="166116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800" b="1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Учёт товара и услуг в сервисном центре</a:t>
            </a:r>
            <a:endParaRPr lang="ru-RU" sz="8800" b="1" dirty="0">
              <a:solidFill>
                <a:srgbClr val="F4D6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5288" y="1077466"/>
            <a:ext cx="70471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smtClean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ЮЖНЫЙ ФЕДЕРАЛЬНЫЙ УНИВЕРСИТЕТ</a:t>
            </a:r>
          </a:p>
          <a:p>
            <a:r>
              <a:rPr lang="ru-RU" sz="3200" dirty="0" smtClean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ИКТИБ </a:t>
            </a:r>
            <a:r>
              <a:rPr lang="en-US" sz="3200" dirty="0" smtClean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 </a:t>
            </a:r>
            <a:r>
              <a:rPr lang="ru-RU" sz="3200" dirty="0" smtClean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КАФЕДРА САИТ</a:t>
            </a:r>
            <a:endParaRPr lang="ru-RU" sz="3200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5288" y="7635875"/>
            <a:ext cx="1365790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Индивидуальное задание по дисциплине ВПК-8. </a:t>
            </a:r>
            <a:endParaRPr lang="ru-RU" sz="4400" b="1" dirty="0" smtClean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4400" b="1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Введение </a:t>
            </a:r>
            <a:r>
              <a:rPr lang="ru-RU" sz="4400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 разработку на платформе 1С:Предприятие</a:t>
            </a:r>
          </a:p>
        </p:txBody>
      </p:sp>
      <p:cxnSp>
        <p:nvCxnSpPr>
          <p:cNvPr id="24" name="Прямая соединительная линия 23"/>
          <p:cNvCxnSpPr/>
          <p:nvPr/>
        </p:nvCxnSpPr>
        <p:spPr>
          <a:xfrm>
            <a:off x="679450" y="9617075"/>
            <a:ext cx="18669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638615" y="9921875"/>
            <a:ext cx="39206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Выполнил: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400" dirty="0" err="1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ст.гр</a:t>
            </a:r>
            <a:r>
              <a:rPr lang="ru-RU" sz="24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КТбо3-2 Кубанов А.А.</a:t>
            </a:r>
          </a:p>
        </p:txBody>
      </p:sp>
      <p:sp>
        <p:nvSpPr>
          <p:cNvPr id="27" name="Прямоугольник 26"/>
          <p:cNvSpPr/>
          <p:nvPr/>
        </p:nvSpPr>
        <p:spPr>
          <a:xfrm>
            <a:off x="7230745" y="9922510"/>
            <a:ext cx="48025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Принял: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4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Ассистент каф. </a:t>
            </a:r>
            <a:r>
              <a:rPr lang="ru-RU" sz="2400" dirty="0" err="1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САиТ</a:t>
            </a:r>
            <a:r>
              <a:rPr lang="ru-RU" sz="2400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Борисов </a:t>
            </a:r>
            <a:r>
              <a:rPr lang="ru-RU" sz="24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А.Ю.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15427764" y="9938385"/>
            <a:ext cx="39206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400" b="1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Таганрог 2026</a:t>
            </a:r>
            <a:endParaRPr lang="ru-RU" sz="24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631950" y="4928810"/>
            <a:ext cx="16154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Назначение</a:t>
            </a:r>
            <a:endParaRPr lang="ru-RU" sz="8800" b="1" dirty="0">
              <a:solidFill>
                <a:srgbClr val="F4D6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8604250" y="4892675"/>
            <a:ext cx="2209800" cy="0"/>
          </a:xfrm>
          <a:prstGeom prst="line">
            <a:avLst/>
          </a:prstGeom>
          <a:ln w="57150">
            <a:solidFill>
              <a:srgbClr val="F4D6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240276" y="10540643"/>
            <a:ext cx="13512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Кубанов </a:t>
            </a:r>
            <a:r>
              <a:rPr sz="1800" spc="-20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А.А.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23025" y="10540643"/>
            <a:ext cx="82994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Слайд</a:t>
            </a:r>
            <a:r>
              <a:rPr sz="1800" spc="215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3</a:t>
            </a:r>
            <a:endParaRPr sz="1800">
              <a:solidFill>
                <a:schemeClr val="bg1">
                  <a:lumMod val="9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6817" y="603875"/>
            <a:ext cx="182345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Конфигурация создана для автоматизации работы малых и средних сервисных центров по ремонту техники.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536" y="2530475"/>
            <a:ext cx="1878211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Ликвидация путаницы</a:t>
            </a:r>
            <a:r>
              <a:rPr lang="ru-RU" sz="3600" b="1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3600" b="1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 складах</a:t>
            </a:r>
            <a:r>
              <a:rPr lang="ru-RU" sz="3600" b="1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система ведет точный учет товара в реальном времени и блокирует проведение документов, если нужных деталей физически нет на складе.</a:t>
            </a:r>
          </a:p>
          <a:p>
            <a:endParaRPr lang="ru-RU" sz="3600" b="1" dirty="0" smtClean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3600" b="1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Исключение человеческого фактора</a:t>
            </a:r>
            <a:r>
              <a:rPr lang="ru-RU" sz="3600" b="1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автоматическая подстановка актуальных цен и умная фильтрация (программа показывает только те договоры, которые заключены с выбранным клиентом).</a:t>
            </a:r>
          </a:p>
          <a:p>
            <a:endParaRPr lang="ru-RU" sz="3600" b="1" dirty="0" smtClean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3600" b="1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Контроль дефицита материалов</a:t>
            </a:r>
            <a:r>
              <a:rPr lang="ru-RU" sz="3600" b="1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встроенный фоновый аудит каждые 5 минут сверяет остатки с нормами запасов и предупреждает руководство о нехватке деталей.</a:t>
            </a:r>
          </a:p>
          <a:p>
            <a:endParaRPr lang="ru-RU" sz="3600" b="1" dirty="0" smtClean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3600" b="1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Ускорение обслуживания клиентов</a:t>
            </a:r>
            <a:r>
              <a:rPr lang="ru-RU" sz="3600" b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ru-RU" sz="3600" b="1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рутинный процесс создания печатных бланков, актов и расчета сумм прописью теперь выполняется автоматически в один клик.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5706" y="1311275"/>
            <a:ext cx="1878211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3600" b="1" dirty="0" smtClean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3600" b="1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Складская логистика: </a:t>
            </a:r>
            <a:r>
              <a:rPr lang="ru-RU" sz="3600" b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оформление поступления материалов через «Приходные накладные» с автоматическим подсчётом остатков на конкретных складах.</a:t>
            </a:r>
          </a:p>
          <a:p>
            <a:endParaRPr lang="ru-RU" sz="3600" b="1" dirty="0" smtClean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3600" b="1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Оформление ремонта и услуг: </a:t>
            </a:r>
            <a:r>
              <a:rPr lang="ru-RU" sz="3600" b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проведение документа «Оказание услуг» разделяет позиции на «Материалы» (для списания со склада) и «Услуги» (для фиксации работы мастера).</a:t>
            </a:r>
          </a:p>
          <a:p>
            <a:endParaRPr lang="ru-RU" sz="3600" b="1" dirty="0" smtClean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3600" b="1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Финансовый учет и продажи: </a:t>
            </a:r>
            <a:r>
              <a:rPr lang="ru-RU" sz="3600" b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программа сама разносит данные по регистрам накопления, фиксируя выручку в разрезе клиентов, мастеров и договоров без ручного подсчета.</a:t>
            </a:r>
          </a:p>
          <a:p>
            <a:endParaRPr lang="ru-RU" sz="3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3600" b="1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Анализ и отчетность:</a:t>
            </a:r>
            <a:r>
              <a:rPr lang="ru-RU" sz="3600" b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формирование управленческой отчетности по выручке и запасам происходит мгновенно на основе Системы компоновки данных (СКД).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2562" y="473075"/>
            <a:ext cx="13868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b="1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Какие процессы оптимизирует</a:t>
            </a:r>
            <a:endParaRPr lang="ru-RU" sz="6600" b="1" dirty="0">
              <a:solidFill>
                <a:srgbClr val="F4D6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5"/>
          <p:cNvSpPr txBox="1"/>
          <p:nvPr/>
        </p:nvSpPr>
        <p:spPr>
          <a:xfrm>
            <a:off x="1240276" y="10540643"/>
            <a:ext cx="13512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Кубанов </a:t>
            </a:r>
            <a:r>
              <a:rPr sz="1800" spc="-20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А.А.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5" name="object 6"/>
          <p:cNvSpPr txBox="1"/>
          <p:nvPr/>
        </p:nvSpPr>
        <p:spPr>
          <a:xfrm>
            <a:off x="18023025" y="10540643"/>
            <a:ext cx="82994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 err="1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Слайд</a:t>
            </a:r>
            <a:r>
              <a:rPr sz="1800" spc="215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 </a:t>
            </a:r>
            <a:r>
              <a:rPr lang="ru-RU" spc="-50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4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372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631950" y="4928810"/>
            <a:ext cx="16154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Функционал</a:t>
            </a:r>
            <a:endParaRPr lang="ru-RU" sz="8800" b="1" dirty="0">
              <a:solidFill>
                <a:srgbClr val="F4D6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8604250" y="4892675"/>
            <a:ext cx="2209800" cy="0"/>
          </a:xfrm>
          <a:prstGeom prst="line">
            <a:avLst/>
          </a:prstGeom>
          <a:ln w="57150">
            <a:solidFill>
              <a:srgbClr val="F4D6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736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9435" y="4206875"/>
            <a:ext cx="984367" cy="8167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2754" y="4206875"/>
            <a:ext cx="997351" cy="8088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58990" y="4206874"/>
            <a:ext cx="596840" cy="80887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005205" y="866714"/>
            <a:ext cx="18093690" cy="84510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10"/>
              </a:spcBef>
            </a:pPr>
            <a:r>
              <a:rPr lang="en-US" sz="8100" spc="97" baseline="-10288" dirty="0" smtClean="0">
                <a:solidFill>
                  <a:srgbClr val="F4D620"/>
                </a:solidFill>
                <a:latin typeface="Calibri"/>
                <a:cs typeface="Calibri"/>
              </a:rPr>
              <a:t>|</a:t>
            </a:r>
            <a:r>
              <a:rPr sz="5400" spc="500" dirty="0" smtClean="0">
                <a:solidFill>
                  <a:srgbClr val="F4D620"/>
                </a:solidFill>
                <a:latin typeface="Calibri"/>
                <a:cs typeface="Calibri"/>
              </a:rPr>
              <a:t>РОЛИ</a:t>
            </a:r>
            <a:endParaRPr sz="5400" dirty="0">
              <a:solidFill>
                <a:srgbClr val="F4D620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49187" y="5309324"/>
            <a:ext cx="4353560" cy="351570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7145" algn="ctr">
              <a:lnSpc>
                <a:spcPct val="100000"/>
              </a:lnSpc>
              <a:spcBef>
                <a:spcPts val="90"/>
              </a:spcBef>
            </a:pPr>
            <a:r>
              <a:rPr sz="3600" b="1" spc="190" dirty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Администратор</a:t>
            </a:r>
            <a:endParaRPr sz="3600" b="1" dirty="0">
              <a:solidFill>
                <a:srgbClr val="F4D6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5080" indent="-6350" algn="ctr">
              <a:lnSpc>
                <a:spcPct val="128200"/>
              </a:lnSpc>
              <a:spcBef>
                <a:spcPts val="1460"/>
              </a:spcBef>
            </a:pPr>
            <a:r>
              <a:rPr sz="2800" b="1" dirty="0">
                <a:solidFill>
                  <a:schemeClr val="bg1"/>
                </a:solidFill>
                <a:latin typeface="Calibri"/>
                <a:cs typeface="Calibri"/>
              </a:rPr>
              <a:t>Полный</a:t>
            </a:r>
            <a:r>
              <a:rPr sz="2800" b="1" spc="1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70" dirty="0">
                <a:solidFill>
                  <a:schemeClr val="bg1"/>
                </a:solidFill>
                <a:latin typeface="Calibri"/>
                <a:cs typeface="Calibri"/>
              </a:rPr>
              <a:t>доступ</a:t>
            </a:r>
            <a:r>
              <a:rPr sz="2800" b="1" spc="1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75" dirty="0">
                <a:solidFill>
                  <a:schemeClr val="bg1"/>
                </a:solidFill>
                <a:latin typeface="Calibri"/>
                <a:cs typeface="Calibri"/>
              </a:rPr>
              <a:t>к</a:t>
            </a:r>
            <a:r>
              <a:rPr sz="2800" b="1" spc="2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chemeClr val="bg1"/>
                </a:solidFill>
                <a:latin typeface="Calibri"/>
                <a:cs typeface="Calibri"/>
              </a:rPr>
              <a:t>метаданным, </a:t>
            </a:r>
            <a:r>
              <a:rPr sz="2800" b="1" spc="75" dirty="0">
                <a:solidFill>
                  <a:schemeClr val="bg1"/>
                </a:solidFill>
                <a:latin typeface="Calibri"/>
                <a:cs typeface="Calibri"/>
              </a:rPr>
              <a:t>настройка</a:t>
            </a:r>
            <a:r>
              <a:rPr sz="2800" b="1" spc="17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chemeClr val="bg1"/>
                </a:solidFill>
                <a:latin typeface="Calibri"/>
                <a:cs typeface="Calibri"/>
              </a:rPr>
              <a:t>цен,</a:t>
            </a:r>
            <a:r>
              <a:rPr sz="2800" b="1" spc="7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chemeClr val="bg1"/>
                </a:solidFill>
                <a:latin typeface="Calibri"/>
                <a:cs typeface="Calibri"/>
              </a:rPr>
              <a:t>управление</a:t>
            </a:r>
            <a:r>
              <a:rPr sz="2800" b="1" spc="19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chemeClr val="bg1"/>
                </a:solidFill>
                <a:latin typeface="Calibri"/>
                <a:cs typeface="Calibri"/>
              </a:rPr>
              <a:t>нормами </a:t>
            </a:r>
            <a:r>
              <a:rPr sz="2800" b="1" spc="105" dirty="0">
                <a:solidFill>
                  <a:schemeClr val="bg1"/>
                </a:solidFill>
                <a:latin typeface="Calibri"/>
                <a:cs typeface="Calibri"/>
              </a:rPr>
              <a:t>запаса</a:t>
            </a:r>
            <a:r>
              <a:rPr sz="2800" b="1" spc="2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55" dirty="0">
                <a:solidFill>
                  <a:schemeClr val="bg1"/>
                </a:solidFill>
                <a:latin typeface="Calibri"/>
                <a:cs typeface="Calibri"/>
              </a:rPr>
              <a:t>и</a:t>
            </a:r>
            <a:r>
              <a:rPr sz="2800" b="1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60" dirty="0">
                <a:solidFill>
                  <a:schemeClr val="bg1"/>
                </a:solidFill>
                <a:latin typeface="Calibri"/>
                <a:cs typeface="Calibri"/>
              </a:rPr>
              <a:t>учетными</a:t>
            </a:r>
            <a:r>
              <a:rPr sz="2800" b="1" spc="11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chemeClr val="bg1"/>
                </a:solidFill>
                <a:latin typeface="Calibri"/>
                <a:cs typeface="Calibri"/>
              </a:rPr>
              <a:t>записями.</a:t>
            </a:r>
            <a:endParaRPr sz="28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0276" y="10540643"/>
            <a:ext cx="26784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Индивидуальное</a:t>
            </a:r>
            <a:r>
              <a:rPr sz="1800" spc="-125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задание</a:t>
            </a:r>
            <a:endParaRPr sz="1800">
              <a:solidFill>
                <a:schemeClr val="bg1">
                  <a:lumMod val="9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43832" y="5333538"/>
            <a:ext cx="1695986" cy="5681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b="1" spc="229" dirty="0">
                <a:solidFill>
                  <a:srgbClr val="F4D620"/>
                </a:solidFill>
                <a:latin typeface="Calibri"/>
                <a:cs typeface="Calibri"/>
              </a:rPr>
              <a:t>Мастер</a:t>
            </a:r>
            <a:endParaRPr sz="3600" b="1">
              <a:solidFill>
                <a:srgbClr val="F4D620"/>
              </a:solidFill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91384" y="5309323"/>
            <a:ext cx="4127500" cy="2922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90"/>
              </a:spcBef>
            </a:pPr>
            <a:r>
              <a:rPr sz="3600" b="1" spc="229" dirty="0">
                <a:solidFill>
                  <a:srgbClr val="F4D620"/>
                </a:solidFill>
                <a:latin typeface="Calibri"/>
                <a:cs typeface="Calibri"/>
              </a:rPr>
              <a:t>Регистратура</a:t>
            </a:r>
            <a:endParaRPr sz="3600" b="1" dirty="0">
              <a:solidFill>
                <a:srgbClr val="F4D620"/>
              </a:solidFill>
              <a:latin typeface="Calibri"/>
              <a:cs typeface="Calibri"/>
            </a:endParaRPr>
          </a:p>
          <a:p>
            <a:pPr marL="12700" marR="5080" indent="-11430" algn="ctr">
              <a:lnSpc>
                <a:spcPct val="131200"/>
              </a:lnSpc>
              <a:spcBef>
                <a:spcPts val="1385"/>
              </a:spcBef>
            </a:pPr>
            <a:r>
              <a:rPr sz="2800" b="1" dirty="0">
                <a:solidFill>
                  <a:schemeClr val="bg1"/>
                </a:solidFill>
                <a:latin typeface="Calibri"/>
                <a:cs typeface="Calibri"/>
              </a:rPr>
              <a:t>Фронтюфис:</a:t>
            </a:r>
            <a:r>
              <a:rPr sz="2800" b="1" spc="36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80" dirty="0">
                <a:solidFill>
                  <a:schemeClr val="bg1"/>
                </a:solidFill>
                <a:latin typeface="Calibri"/>
                <a:cs typeface="Calibri"/>
              </a:rPr>
              <a:t>работа</a:t>
            </a:r>
            <a:r>
              <a:rPr sz="2800" b="1" spc="21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75" dirty="0">
                <a:solidFill>
                  <a:schemeClr val="bg1"/>
                </a:solidFill>
                <a:latin typeface="Calibri"/>
                <a:cs typeface="Calibri"/>
              </a:rPr>
              <a:t>с</a:t>
            </a:r>
            <a:r>
              <a:rPr sz="2800" b="1" spc="229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chemeClr val="bg1"/>
                </a:solidFill>
                <a:latin typeface="Calibri"/>
                <a:cs typeface="Calibri"/>
              </a:rPr>
              <a:t>клиентами, </a:t>
            </a:r>
            <a:r>
              <a:rPr sz="2800" b="1" dirty="0">
                <a:solidFill>
                  <a:schemeClr val="bg1"/>
                </a:solidFill>
                <a:latin typeface="Calibri"/>
                <a:cs typeface="Calibri"/>
              </a:rPr>
              <a:t>оформление</a:t>
            </a:r>
            <a:r>
              <a:rPr sz="2800" b="1" spc="15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50" dirty="0">
                <a:solidFill>
                  <a:schemeClr val="bg1"/>
                </a:solidFill>
                <a:latin typeface="Calibri"/>
                <a:cs typeface="Calibri"/>
              </a:rPr>
              <a:t>договоров</a:t>
            </a:r>
            <a:r>
              <a:rPr sz="2800" b="1" spc="27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55" dirty="0">
                <a:solidFill>
                  <a:schemeClr val="bg1"/>
                </a:solidFill>
                <a:latin typeface="Calibri"/>
                <a:cs typeface="Calibri"/>
              </a:rPr>
              <a:t>и</a:t>
            </a:r>
            <a:r>
              <a:rPr sz="2800" b="1" spc="10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114" dirty="0">
                <a:solidFill>
                  <a:schemeClr val="bg1"/>
                </a:solidFill>
                <a:latin typeface="Calibri"/>
                <a:cs typeface="Calibri"/>
              </a:rPr>
              <a:t>актов</a:t>
            </a:r>
            <a:r>
              <a:rPr sz="2800" b="1" spc="8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chemeClr val="bg1"/>
                </a:solidFill>
                <a:latin typeface="Calibri"/>
                <a:cs typeface="Calibri"/>
              </a:rPr>
              <a:t>об </a:t>
            </a:r>
            <a:r>
              <a:rPr sz="2400" b="1" spc="125" dirty="0">
                <a:solidFill>
                  <a:schemeClr val="bg1"/>
                </a:solidFill>
                <a:latin typeface="Calibri"/>
                <a:cs typeface="Calibri"/>
              </a:rPr>
              <a:t>оказании</a:t>
            </a:r>
            <a:r>
              <a:rPr sz="2400" b="1" spc="16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400" b="1" spc="105" dirty="0">
                <a:solidFill>
                  <a:schemeClr val="bg1"/>
                </a:solidFill>
                <a:latin typeface="Calibri"/>
                <a:cs typeface="Calibri"/>
              </a:rPr>
              <a:t>услуг.</a:t>
            </a:r>
            <a:endParaRPr sz="24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023025" y="10540643"/>
            <a:ext cx="8286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 err="1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Слайд</a:t>
            </a:r>
            <a:r>
              <a:rPr sz="1800" spc="204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 </a:t>
            </a:r>
            <a:r>
              <a:rPr lang="en-US" spc="-50" dirty="0">
                <a:solidFill>
                  <a:schemeClr val="bg1">
                    <a:lumMod val="95000"/>
                  </a:schemeClr>
                </a:solidFill>
                <a:latin typeface="Calibri"/>
                <a:cs typeface="Calibri"/>
              </a:rPr>
              <a:t>6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6999543" y="6035675"/>
            <a:ext cx="578456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Складская подсистема: оприходование  запчастей, контроль остатков для проведения ремонтов.</a:t>
            </a:r>
            <a:endParaRPr lang="ru-RU" sz="2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05205" y="886591"/>
            <a:ext cx="18093690" cy="8053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634">
              <a:lnSpc>
                <a:spcPct val="100000"/>
              </a:lnSpc>
              <a:spcBef>
                <a:spcPts val="100"/>
              </a:spcBef>
            </a:pPr>
            <a:r>
              <a:rPr sz="5150" spc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ОБЪЕКТЫ</a:t>
            </a:r>
            <a:r>
              <a:rPr sz="5150" spc="130" dirty="0">
                <a:solidFill>
                  <a:srgbClr val="282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sz="5150" spc="-1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КОНФИГУРАЦИИ</a:t>
            </a:r>
            <a:r>
              <a:rPr lang="ru-RU" sz="5150" spc="-1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СПРАВОЧНИКИ</a:t>
            </a:r>
            <a:endParaRPr sz="5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2670" y="10540643"/>
            <a:ext cx="2055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800" spc="-2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С:Предприятие</a:t>
            </a:r>
            <a:r>
              <a:rPr sz="1800" spc="24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8.5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26183" y="10557004"/>
            <a:ext cx="833119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110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Слайд</a:t>
            </a:r>
            <a:r>
              <a:rPr sz="1650" spc="3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50" spc="5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</a:t>
            </a:r>
            <a:endParaRPr sz="165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735162"/>
              </p:ext>
            </p:extLst>
          </p:nvPr>
        </p:nvGraphicFramePr>
        <p:xfrm>
          <a:off x="984248" y="2987675"/>
          <a:ext cx="18114964" cy="69314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28741"/>
                <a:gridCol w="4528741"/>
                <a:gridCol w="4528741"/>
                <a:gridCol w="4528741"/>
              </a:tblGrid>
              <a:tr h="503620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Название справочника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Иерархия / Подчинение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Реквизиты (Тип данных)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Описание функционала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1045665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Номенклатура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Иерархический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ВидНоменклатуры </a:t>
                      </a:r>
                    </a:p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ЦенаЗакупки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Содержит перечень запчастей, расходных материалов и видов ремонта.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1045665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Склады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Нет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—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Список мест хранения материальных ценностей (например, «Основной склад»).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1045665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Клиенты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Нет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—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Центральная база контрагентов (физических и юридических лиц). Имеет индивидуальную форму элемента.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503620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Договоры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Подчинен справочнику Клиенты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ДатаЗаключения (Дата)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Хранит сведения о соглашениях.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503620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Сотрудники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Нет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—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Содержит перечень сотрудников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05205" y="886591"/>
            <a:ext cx="18093690" cy="8053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634">
              <a:lnSpc>
                <a:spcPct val="100000"/>
              </a:lnSpc>
              <a:spcBef>
                <a:spcPts val="100"/>
              </a:spcBef>
            </a:pPr>
            <a:r>
              <a:rPr sz="5150" spc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ОБЪЕКТЫ</a:t>
            </a:r>
            <a:r>
              <a:rPr sz="5150" spc="130" dirty="0">
                <a:solidFill>
                  <a:srgbClr val="282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sz="5150" spc="-1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КОНФИГУРАЦИИ</a:t>
            </a:r>
            <a:r>
              <a:rPr lang="ru-RU" sz="5150" spc="-1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ДОКУМЕНТЫ</a:t>
            </a:r>
            <a:endParaRPr sz="5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024234"/>
              </p:ext>
            </p:extLst>
          </p:nvPr>
        </p:nvGraphicFramePr>
        <p:xfrm>
          <a:off x="984250" y="3063875"/>
          <a:ext cx="18038763" cy="59186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012921"/>
                <a:gridCol w="6012921"/>
                <a:gridCol w="6012921"/>
              </a:tblGrid>
              <a:tr h="968612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Название документа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Реквизиты шапки (Тип данных)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Табличные части и их реквизиты (Тип данных)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2475033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ПриходнаяНакладная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Склад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СписокМатериалов:</a:t>
                      </a:r>
                    </a:p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Материал</a:t>
                      </a:r>
                    </a:p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Количество </a:t>
                      </a:r>
                    </a:p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Цена </a:t>
                      </a:r>
                    </a:p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Сумма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2475033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effectLst/>
                        </a:rPr>
                        <a:t>ОказаниеУслуг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Клиент</a:t>
                      </a:r>
                    </a:p>
                    <a:p>
                      <a:pPr indent="4572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Договор</a:t>
                      </a:r>
                    </a:p>
                    <a:p>
                      <a:pPr indent="4572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Мастер</a:t>
                      </a:r>
                    </a:p>
                    <a:p>
                      <a:pPr indent="4572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Склад</a:t>
                      </a:r>
                    </a:p>
                    <a:p>
                      <a:pPr indent="457200"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ИтоговаяСумма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effectLst/>
                        </a:rPr>
                        <a:t>СписокНоменклатуры</a:t>
                      </a:r>
                      <a:r>
                        <a:rPr lang="ru-RU" sz="2400" dirty="0">
                          <a:effectLst/>
                        </a:rPr>
                        <a:t>:</a:t>
                      </a:r>
                    </a:p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Номенклатура</a:t>
                      </a:r>
                    </a:p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Количество</a:t>
                      </a:r>
                    </a:p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Цена</a:t>
                      </a:r>
                    </a:p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Сумма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1" name="object 4"/>
          <p:cNvSpPr txBox="1"/>
          <p:nvPr/>
        </p:nvSpPr>
        <p:spPr>
          <a:xfrm>
            <a:off x="1232670" y="10540643"/>
            <a:ext cx="2055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800" spc="-2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С:Предприятие</a:t>
            </a:r>
            <a:r>
              <a:rPr sz="1800" spc="24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8.5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18026183" y="10557004"/>
            <a:ext cx="833119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110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Слайд</a:t>
            </a:r>
            <a:r>
              <a:rPr sz="1650" spc="3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50" spc="5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endParaRPr sz="165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521806"/>
              </p:ext>
            </p:extLst>
          </p:nvPr>
        </p:nvGraphicFramePr>
        <p:xfrm>
          <a:off x="984250" y="3292475"/>
          <a:ext cx="18267365" cy="57518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53473"/>
                <a:gridCol w="3653473"/>
                <a:gridCol w="3653473"/>
                <a:gridCol w="3653473"/>
                <a:gridCol w="3653473"/>
              </a:tblGrid>
              <a:tr h="744724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Имя регистра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Периодичность / Свойства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Измерения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Ресурсы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Назначение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</a:tr>
              <a:tr h="1233369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effectLst/>
                        </a:rPr>
                        <a:t>ЦеныНоменклатуры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Непериодический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Номенклатура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Цена (Число)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Хранит актуальные цены реализации товаров и услуг.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</a:tr>
              <a:tr h="1722014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НормыЗапасаТоваров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Непериодический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Номенклатура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Норма (Число)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Задает неснижаемый остаток товара на складе для автоматического контроля дефицита.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</a:tr>
              <a:tr h="1233369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ЖурналПроверкиЗапасов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Периодический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Проверка, Номенклатура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Остаток, Норма, Недостача, Сообщение (Строка)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Фиксирует результаты автоматического аудита складов.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  <p:sp>
        <p:nvSpPr>
          <p:cNvPr id="7" name="object 3" descr="$PPTXTitle"/>
          <p:cNvSpPr txBox="1">
            <a:spLocks/>
          </p:cNvSpPr>
          <p:nvPr/>
        </p:nvSpPr>
        <p:spPr>
          <a:xfrm>
            <a:off x="1005205" y="886591"/>
            <a:ext cx="18093690" cy="8053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88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pPr marL="508634">
              <a:spcBef>
                <a:spcPts val="100"/>
              </a:spcBef>
            </a:pPr>
            <a:r>
              <a:rPr lang="ru-RU" sz="5150" spc="1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ОБЪЕКТЫ</a:t>
            </a:r>
            <a:r>
              <a:rPr lang="ru-RU" sz="5150" spc="130" dirty="0" smtClean="0">
                <a:solidFill>
                  <a:srgbClr val="282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ru-RU" sz="5150" spc="-1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КОНФИГУРАЦИИ – РЕГИСТРЫ СВЕДЕНИЙ</a:t>
            </a:r>
            <a:endParaRPr lang="ru-RU" sz="5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1232670" y="10540643"/>
            <a:ext cx="2055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800" spc="-2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С:Предприятие</a:t>
            </a:r>
            <a:r>
              <a:rPr sz="1800" spc="24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8.5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object 5"/>
          <p:cNvSpPr txBox="1"/>
          <p:nvPr/>
        </p:nvSpPr>
        <p:spPr>
          <a:xfrm>
            <a:off x="18026183" y="10557004"/>
            <a:ext cx="833119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110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Слайд</a:t>
            </a:r>
            <a:r>
              <a:rPr sz="1650" spc="3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50" spc="5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</a:t>
            </a:r>
            <a:endParaRPr sz="165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617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395586"/>
              </p:ext>
            </p:extLst>
          </p:nvPr>
        </p:nvGraphicFramePr>
        <p:xfrm>
          <a:off x="1136650" y="3292475"/>
          <a:ext cx="18094325" cy="43138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18865"/>
                <a:gridCol w="3618865"/>
                <a:gridCol w="3618865"/>
                <a:gridCol w="3618865"/>
                <a:gridCol w="3618865"/>
              </a:tblGrid>
              <a:tr h="0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Имя регистра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Тип регистра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Измерения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Ресурсы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Назначение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</a:tr>
              <a:tr h="0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ОстаткиМатериалов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Остатки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Склад, Материал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Количество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Используется для контроля и списания складских запасов в реальном времени.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</a:tr>
              <a:tr h="0"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Продажи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Обороты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Номенклатура, Клиент, Договор, Мастер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Количество, Сумма</a:t>
                      </a:r>
                      <a:endParaRPr lang="ru-RU" sz="24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indent="457200" algn="just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Накапливает информацию о выручке в разрезе всех ключевых аналитик.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  <p:sp>
        <p:nvSpPr>
          <p:cNvPr id="9" name="object 3" descr="$PPTXTitle"/>
          <p:cNvSpPr txBox="1">
            <a:spLocks/>
          </p:cNvSpPr>
          <p:nvPr/>
        </p:nvSpPr>
        <p:spPr>
          <a:xfrm>
            <a:off x="1005205" y="886591"/>
            <a:ext cx="18093690" cy="8053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88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pPr marL="508634">
              <a:spcBef>
                <a:spcPts val="100"/>
              </a:spcBef>
            </a:pPr>
            <a:r>
              <a:rPr lang="ru-RU" sz="5150" spc="1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ОБЪЕКТЫ</a:t>
            </a:r>
            <a:r>
              <a:rPr lang="ru-RU" sz="5150" spc="130" dirty="0" smtClean="0">
                <a:solidFill>
                  <a:srgbClr val="2828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ru-RU" sz="5150" spc="-1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КОНФИГУРАЦИИ – РЕГИСТРЫ НАКОПЛЕНИЙ</a:t>
            </a:r>
            <a:endParaRPr lang="ru-RU" sz="5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bject 4"/>
          <p:cNvSpPr txBox="1"/>
          <p:nvPr/>
        </p:nvSpPr>
        <p:spPr>
          <a:xfrm>
            <a:off x="1232670" y="10540643"/>
            <a:ext cx="2055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800" spc="-2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С:Предприятие</a:t>
            </a:r>
            <a:r>
              <a:rPr sz="1800" spc="24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8.5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18026183" y="10557004"/>
            <a:ext cx="1072712" cy="2699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110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Слайд</a:t>
            </a:r>
            <a:r>
              <a:rPr sz="1650" spc="3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50" spc="55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sz="165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 descr="$PPTXTitle"/>
          <p:cNvSpPr txBox="1">
            <a:spLocks/>
          </p:cNvSpPr>
          <p:nvPr/>
        </p:nvSpPr>
        <p:spPr>
          <a:xfrm>
            <a:off x="1005205" y="886591"/>
            <a:ext cx="18093690" cy="8053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88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pPr marL="508634">
              <a:spcBef>
                <a:spcPts val="100"/>
              </a:spcBef>
            </a:pPr>
            <a:r>
              <a:rPr lang="ru-RU" sz="5150" spc="100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Отчёт</a:t>
            </a:r>
            <a:r>
              <a:rPr lang="ru-RU" sz="5150" spc="1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«Материалы на складах»</a:t>
            </a:r>
            <a:endParaRPr lang="ru-RU" sz="5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232670" y="10540643"/>
            <a:ext cx="2055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800" spc="-2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С:Предприятие</a:t>
            </a:r>
            <a:r>
              <a:rPr sz="1800" spc="24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8.5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18026183" y="10557004"/>
            <a:ext cx="1072712" cy="2699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110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Слайд</a:t>
            </a:r>
            <a:r>
              <a:rPr sz="1650" spc="3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50" spc="55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1226320" y="2301875"/>
            <a:ext cx="10209213" cy="3690620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12955905" y="3269615"/>
            <a:ext cx="5763260" cy="4906010"/>
          </a:xfrm>
          <a:prstGeom prst="rect">
            <a:avLst/>
          </a:prstGeom>
        </p:spPr>
      </p:pic>
      <p:pic>
        <p:nvPicPr>
          <p:cNvPr id="11" name="Рисунок 10"/>
          <p:cNvPicPr/>
          <p:nvPr/>
        </p:nvPicPr>
        <p:blipFill rotWithShape="1">
          <a:blip r:embed="rId4"/>
          <a:srcRect r="44331"/>
          <a:stretch/>
        </p:blipFill>
        <p:spPr>
          <a:xfrm>
            <a:off x="2559026" y="6306978"/>
            <a:ext cx="7543800" cy="37372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4"/>
          <p:cNvSpPr txBox="1"/>
          <p:nvPr/>
        </p:nvSpPr>
        <p:spPr>
          <a:xfrm>
            <a:off x="1232670" y="10540643"/>
            <a:ext cx="2055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800" spc="-2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С:Предприятие</a:t>
            </a:r>
            <a:r>
              <a:rPr sz="1800" spc="24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8.5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object 5"/>
          <p:cNvSpPr txBox="1"/>
          <p:nvPr/>
        </p:nvSpPr>
        <p:spPr>
          <a:xfrm>
            <a:off x="18026183" y="10557004"/>
            <a:ext cx="1072712" cy="2699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110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Слайд</a:t>
            </a:r>
            <a:r>
              <a:rPr sz="1650" spc="3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50" spc="55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</a:t>
            </a:r>
            <a:endParaRPr sz="165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object 3" descr="$PPTXTitle"/>
          <p:cNvSpPr txBox="1">
            <a:spLocks/>
          </p:cNvSpPr>
          <p:nvPr/>
        </p:nvSpPr>
        <p:spPr>
          <a:xfrm>
            <a:off x="1005205" y="886591"/>
            <a:ext cx="18093690" cy="8053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88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pPr marL="508634">
              <a:spcBef>
                <a:spcPts val="100"/>
              </a:spcBef>
            </a:pPr>
            <a:r>
              <a:rPr lang="ru-RU" sz="5150" spc="100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Отчёт</a:t>
            </a:r>
            <a:r>
              <a:rPr lang="ru-RU" sz="5150" spc="1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«Прайс-лист» и «Отчёт по клиентам»</a:t>
            </a:r>
            <a:endParaRPr lang="ru-RU" sz="5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Рисунок 17"/>
          <p:cNvPicPr/>
          <p:nvPr/>
        </p:nvPicPr>
        <p:blipFill rotWithShape="1">
          <a:blip r:embed="rId2"/>
          <a:srcRect r="46290"/>
          <a:stretch/>
        </p:blipFill>
        <p:spPr>
          <a:xfrm>
            <a:off x="1005205" y="2917825"/>
            <a:ext cx="6711157" cy="5148915"/>
          </a:xfrm>
          <a:prstGeom prst="rect">
            <a:avLst/>
          </a:prstGeom>
        </p:spPr>
      </p:pic>
      <p:pic>
        <p:nvPicPr>
          <p:cNvPr id="19" name="Рисунок 18"/>
          <p:cNvPicPr/>
          <p:nvPr/>
        </p:nvPicPr>
        <p:blipFill rotWithShape="1">
          <a:blip r:embed="rId3"/>
          <a:srcRect r="38742"/>
          <a:stretch/>
        </p:blipFill>
        <p:spPr>
          <a:xfrm>
            <a:off x="8534399" y="2226168"/>
            <a:ext cx="10494645" cy="65322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 descr="$PPTXTitle"/>
          <p:cNvSpPr txBox="1">
            <a:spLocks/>
          </p:cNvSpPr>
          <p:nvPr/>
        </p:nvSpPr>
        <p:spPr>
          <a:xfrm>
            <a:off x="1005205" y="886591"/>
            <a:ext cx="18093690" cy="8053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88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pPr marL="508634">
              <a:spcBef>
                <a:spcPts val="100"/>
              </a:spcBef>
            </a:pPr>
            <a:r>
              <a:rPr lang="ru-RU" sz="5150" spc="100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Отчёт</a:t>
            </a:r>
            <a:r>
              <a:rPr lang="ru-RU" sz="5150" spc="1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«Продажи по мастерам» и «Рейтинг услуг»</a:t>
            </a:r>
            <a:endParaRPr lang="ru-RU" sz="51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05205" y="2492373"/>
            <a:ext cx="8839201" cy="6324600"/>
          </a:xfrm>
          <a:prstGeom prst="rect">
            <a:avLst/>
          </a:prstGeom>
        </p:spPr>
      </p:pic>
      <p:pic>
        <p:nvPicPr>
          <p:cNvPr id="4" name="Рисунок 3"/>
          <p:cNvPicPr/>
          <p:nvPr/>
        </p:nvPicPr>
        <p:blipFill rotWithShape="1">
          <a:blip r:embed="rId3"/>
          <a:srcRect l="-1657" t="-12257" r="23674" b="12257"/>
          <a:stretch/>
        </p:blipFill>
        <p:spPr>
          <a:xfrm>
            <a:off x="10280650" y="3303309"/>
            <a:ext cx="9205595" cy="4702728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>
          <a:xfrm>
            <a:off x="1232670" y="10540643"/>
            <a:ext cx="2055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800" spc="-2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С:Предприятие</a:t>
            </a:r>
            <a:r>
              <a:rPr sz="1800" spc="24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8.5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18026183" y="10557004"/>
            <a:ext cx="1072712" cy="2699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110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Слайд</a:t>
            </a:r>
            <a:r>
              <a:rPr sz="1650" spc="3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50" spc="55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</a:t>
            </a:r>
            <a:endParaRPr sz="165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508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 descr="$PPTXTitle"/>
          <p:cNvSpPr txBox="1">
            <a:spLocks/>
          </p:cNvSpPr>
          <p:nvPr/>
        </p:nvSpPr>
        <p:spPr>
          <a:xfrm>
            <a:off x="587375" y="886591"/>
            <a:ext cx="19098895" cy="8053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88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pPr marL="508634">
              <a:spcBef>
                <a:spcPts val="100"/>
              </a:spcBef>
            </a:pPr>
            <a:r>
              <a:rPr lang="ru-RU" sz="5150" spc="100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Печатая форма </a:t>
            </a:r>
            <a:r>
              <a:rPr lang="ru-RU" sz="5150" spc="1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«Оказание услуг» и «Приходная накладная»</a:t>
            </a:r>
            <a:endParaRPr lang="ru-RU" sz="515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 rotWithShape="1">
          <a:blip r:embed="rId2"/>
          <a:srcRect r="17340"/>
          <a:stretch/>
        </p:blipFill>
        <p:spPr>
          <a:xfrm>
            <a:off x="1145222" y="3368675"/>
            <a:ext cx="8991600" cy="5029200"/>
          </a:xfrm>
          <a:prstGeom prst="rect">
            <a:avLst/>
          </a:prstGeom>
        </p:spPr>
      </p:pic>
      <p:pic>
        <p:nvPicPr>
          <p:cNvPr id="4" name="Рисунок 3"/>
          <p:cNvPicPr/>
          <p:nvPr/>
        </p:nvPicPr>
        <p:blipFill rotWithShape="1">
          <a:blip r:embed="rId3"/>
          <a:srcRect r="15259"/>
          <a:stretch/>
        </p:blipFill>
        <p:spPr>
          <a:xfrm>
            <a:off x="11195050" y="3368676"/>
            <a:ext cx="7772399" cy="5029200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>
          <a:xfrm>
            <a:off x="1232670" y="10540643"/>
            <a:ext cx="2055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800" spc="-2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С:Предприятие</a:t>
            </a:r>
            <a:r>
              <a:rPr sz="1800" spc="24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8.5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18026183" y="10557004"/>
            <a:ext cx="1072712" cy="2699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110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Слайд</a:t>
            </a:r>
            <a:r>
              <a:rPr sz="1650" spc="3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50" spc="55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14</a:t>
            </a:r>
            <a:endParaRPr sz="165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1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1950" y="4928810"/>
            <a:ext cx="16154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800" b="1" dirty="0" smtClean="0">
                <a:solidFill>
                  <a:srgbClr val="F4D6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Демонстрация</a:t>
            </a:r>
            <a:endParaRPr lang="ru-RU" sz="8800" b="1" dirty="0">
              <a:solidFill>
                <a:srgbClr val="F4D6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8604250" y="4892675"/>
            <a:ext cx="2209800" cy="0"/>
          </a:xfrm>
          <a:prstGeom prst="line">
            <a:avLst/>
          </a:prstGeom>
          <a:ln w="57150">
            <a:solidFill>
              <a:srgbClr val="F4D6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94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 descr="$PPTXTitle"/>
          <p:cNvSpPr txBox="1">
            <a:spLocks/>
          </p:cNvSpPr>
          <p:nvPr/>
        </p:nvSpPr>
        <p:spPr>
          <a:xfrm>
            <a:off x="1005205" y="886591"/>
            <a:ext cx="1809369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88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pPr marL="508634">
              <a:spcBef>
                <a:spcPts val="100"/>
              </a:spcBef>
            </a:pPr>
            <a:r>
              <a:rPr lang="ru-RU" sz="5400" dirty="0" smtClean="0">
                <a:solidFill>
                  <a:schemeClr val="bg1"/>
                </a:solidFill>
              </a:rPr>
              <a:t>Документ </a:t>
            </a:r>
            <a:r>
              <a:rPr lang="ru-RU" sz="5400" dirty="0" smtClean="0">
                <a:solidFill>
                  <a:srgbClr val="F4D620"/>
                </a:solidFill>
              </a:rPr>
              <a:t>«Приходная Накладная»</a:t>
            </a:r>
            <a:endParaRPr lang="ru-RU" sz="5150" dirty="0">
              <a:solidFill>
                <a:srgbClr val="F4D6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1014094" y="2149475"/>
            <a:ext cx="11781155" cy="4298315"/>
          </a:xfrm>
          <a:prstGeom prst="rect">
            <a:avLst/>
          </a:prstGeom>
        </p:spPr>
      </p:pic>
      <p:pic>
        <p:nvPicPr>
          <p:cNvPr id="4" name="Рисунок 3"/>
          <p:cNvPicPr/>
          <p:nvPr/>
        </p:nvPicPr>
        <p:blipFill>
          <a:blip r:embed="rId3"/>
          <a:stretch>
            <a:fillRect/>
          </a:stretch>
        </p:blipFill>
        <p:spPr>
          <a:xfrm>
            <a:off x="7537450" y="4968875"/>
            <a:ext cx="11353800" cy="539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84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 descr="$PPTXTitle"/>
          <p:cNvSpPr txBox="1">
            <a:spLocks/>
          </p:cNvSpPr>
          <p:nvPr/>
        </p:nvSpPr>
        <p:spPr>
          <a:xfrm>
            <a:off x="1005205" y="886591"/>
            <a:ext cx="1809369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88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pPr marL="508634">
              <a:spcBef>
                <a:spcPts val="100"/>
              </a:spcBef>
            </a:pPr>
            <a:r>
              <a:rPr lang="ru-RU" sz="5400" dirty="0" smtClean="0">
                <a:solidFill>
                  <a:schemeClr val="bg1"/>
                </a:solidFill>
              </a:rPr>
              <a:t>Документ </a:t>
            </a:r>
            <a:r>
              <a:rPr lang="ru-RU" sz="5400" dirty="0" smtClean="0">
                <a:solidFill>
                  <a:srgbClr val="F4D620"/>
                </a:solidFill>
              </a:rPr>
              <a:t>«Оказание Услуг»</a:t>
            </a:r>
            <a:endParaRPr lang="ru-RU" sz="5150" dirty="0">
              <a:solidFill>
                <a:srgbClr val="F4D6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527050" y="1839714"/>
            <a:ext cx="11049000" cy="3703637"/>
          </a:xfrm>
          <a:prstGeom prst="rect">
            <a:avLst/>
          </a:prstGeom>
        </p:spPr>
      </p:pic>
      <p:pic>
        <p:nvPicPr>
          <p:cNvPr id="4" name="Рисунок 3"/>
          <p:cNvPicPr/>
          <p:nvPr/>
        </p:nvPicPr>
        <p:blipFill>
          <a:blip r:embed="rId3"/>
          <a:stretch>
            <a:fillRect/>
          </a:stretch>
        </p:blipFill>
        <p:spPr>
          <a:xfrm>
            <a:off x="8186420" y="3521075"/>
            <a:ext cx="11256645" cy="6819265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>
          <a:xfrm>
            <a:off x="1232670" y="10540643"/>
            <a:ext cx="2055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800" spc="-2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С:Предприятие</a:t>
            </a:r>
            <a:r>
              <a:rPr sz="1800" spc="24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8.5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18026183" y="10557004"/>
            <a:ext cx="1072712" cy="2699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110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Слайд</a:t>
            </a:r>
            <a:r>
              <a:rPr sz="1650" spc="3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50" spc="55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17</a:t>
            </a:r>
            <a:endParaRPr sz="165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76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4"/>
          <p:cNvSpPr txBox="1"/>
          <p:nvPr/>
        </p:nvSpPr>
        <p:spPr>
          <a:xfrm>
            <a:off x="1232670" y="10540643"/>
            <a:ext cx="2055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800" spc="-2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С:Предприятие</a:t>
            </a:r>
            <a:r>
              <a:rPr sz="1800" spc="24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8.5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object 5"/>
          <p:cNvSpPr txBox="1"/>
          <p:nvPr/>
        </p:nvSpPr>
        <p:spPr>
          <a:xfrm>
            <a:off x="18026183" y="10557004"/>
            <a:ext cx="1072712" cy="2699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110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Слайд</a:t>
            </a:r>
            <a:r>
              <a:rPr sz="1650" spc="3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50" spc="55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</a:t>
            </a:r>
            <a:endParaRPr sz="165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object 3" descr="$PPTXTitle"/>
          <p:cNvSpPr txBox="1">
            <a:spLocks/>
          </p:cNvSpPr>
          <p:nvPr/>
        </p:nvSpPr>
        <p:spPr>
          <a:xfrm>
            <a:off x="1005205" y="886591"/>
            <a:ext cx="1809369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88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pPr marL="508634">
              <a:spcBef>
                <a:spcPts val="100"/>
              </a:spcBef>
            </a:pPr>
            <a:r>
              <a:rPr lang="ru-RU" sz="5400" dirty="0" smtClean="0">
                <a:solidFill>
                  <a:schemeClr val="bg1"/>
                </a:solidFill>
              </a:rPr>
              <a:t>Заполнение</a:t>
            </a:r>
            <a:r>
              <a:rPr lang="ru-RU" sz="5400" dirty="0"/>
              <a:t> </a:t>
            </a:r>
            <a:r>
              <a:rPr lang="ru-RU" sz="5400" dirty="0" smtClean="0">
                <a:solidFill>
                  <a:schemeClr val="bg1"/>
                </a:solidFill>
              </a:rPr>
              <a:t>списков </a:t>
            </a:r>
            <a:r>
              <a:rPr lang="ru-RU" sz="5400" dirty="0" smtClean="0">
                <a:solidFill>
                  <a:srgbClr val="F4D620"/>
                </a:solidFill>
              </a:rPr>
              <a:t>«Клиенты» </a:t>
            </a:r>
            <a:r>
              <a:rPr lang="ru-RU" sz="5400" dirty="0" smtClean="0">
                <a:solidFill>
                  <a:schemeClr val="bg1"/>
                </a:solidFill>
              </a:rPr>
              <a:t>и </a:t>
            </a:r>
            <a:r>
              <a:rPr lang="ru-RU" sz="5400" dirty="0" smtClean="0">
                <a:solidFill>
                  <a:srgbClr val="F4D620"/>
                </a:solidFill>
              </a:rPr>
              <a:t>«Сотрудники»</a:t>
            </a:r>
            <a:endParaRPr lang="ru-RU" sz="5150" dirty="0">
              <a:solidFill>
                <a:srgbClr val="F4D6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Рисунок 27"/>
          <p:cNvPicPr/>
          <p:nvPr/>
        </p:nvPicPr>
        <p:blipFill>
          <a:blip r:embed="rId2"/>
          <a:stretch>
            <a:fillRect/>
          </a:stretch>
        </p:blipFill>
        <p:spPr>
          <a:xfrm>
            <a:off x="603250" y="1936750"/>
            <a:ext cx="9124180" cy="2971800"/>
          </a:xfrm>
          <a:prstGeom prst="rect">
            <a:avLst/>
          </a:prstGeom>
        </p:spPr>
      </p:pic>
      <p:pic>
        <p:nvPicPr>
          <p:cNvPr id="29" name="Рисунок 28"/>
          <p:cNvPicPr/>
          <p:nvPr/>
        </p:nvPicPr>
        <p:blipFill>
          <a:blip r:embed="rId3"/>
          <a:stretch>
            <a:fillRect/>
          </a:stretch>
        </p:blipFill>
        <p:spPr>
          <a:xfrm>
            <a:off x="11118850" y="1920875"/>
            <a:ext cx="8534400" cy="2971800"/>
          </a:xfrm>
          <a:prstGeom prst="rect">
            <a:avLst/>
          </a:prstGeom>
        </p:spPr>
      </p:pic>
      <p:pic>
        <p:nvPicPr>
          <p:cNvPr id="30" name="Рисунок 29"/>
          <p:cNvPicPr/>
          <p:nvPr/>
        </p:nvPicPr>
        <p:blipFill>
          <a:blip r:embed="rId4"/>
          <a:stretch>
            <a:fillRect/>
          </a:stretch>
        </p:blipFill>
        <p:spPr>
          <a:xfrm>
            <a:off x="603250" y="6524465"/>
            <a:ext cx="9124180" cy="2711609"/>
          </a:xfrm>
          <a:prstGeom prst="rect">
            <a:avLst/>
          </a:prstGeom>
        </p:spPr>
      </p:pic>
      <p:pic>
        <p:nvPicPr>
          <p:cNvPr id="31" name="Рисунок 30"/>
          <p:cNvPicPr/>
          <p:nvPr/>
        </p:nvPicPr>
        <p:blipFill>
          <a:blip r:embed="rId5"/>
          <a:stretch>
            <a:fillRect/>
          </a:stretch>
        </p:blipFill>
        <p:spPr>
          <a:xfrm>
            <a:off x="11112500" y="6524466"/>
            <a:ext cx="8534400" cy="2711608"/>
          </a:xfrm>
          <a:prstGeom prst="rect">
            <a:avLst/>
          </a:prstGeom>
        </p:spPr>
      </p:pic>
      <p:sp>
        <p:nvSpPr>
          <p:cNvPr id="33" name="Стрелка вправо 32"/>
          <p:cNvSpPr/>
          <p:nvPr/>
        </p:nvSpPr>
        <p:spPr>
          <a:xfrm>
            <a:off x="10052050" y="2987675"/>
            <a:ext cx="838200" cy="419100"/>
          </a:xfrm>
          <a:prstGeom prst="rightArrow">
            <a:avLst/>
          </a:prstGeom>
          <a:solidFill>
            <a:srgbClr val="F4D62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Стрелка вправо 33"/>
          <p:cNvSpPr/>
          <p:nvPr/>
        </p:nvSpPr>
        <p:spPr>
          <a:xfrm>
            <a:off x="10052050" y="7506653"/>
            <a:ext cx="838200" cy="419100"/>
          </a:xfrm>
          <a:prstGeom prst="rightArrow">
            <a:avLst/>
          </a:prstGeom>
          <a:solidFill>
            <a:srgbClr val="F4D62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2369184"/>
            <a:ext cx="8928099" cy="2947669"/>
          </a:xfrm>
          <a:prstGeom prst="rect">
            <a:avLst/>
          </a:prstGeom>
        </p:spPr>
      </p:pic>
      <p:pic>
        <p:nvPicPr>
          <p:cNvPr id="3" name="Рисунок 2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5888986"/>
            <a:ext cx="8928099" cy="2957198"/>
          </a:xfrm>
          <a:prstGeom prst="rect">
            <a:avLst/>
          </a:prstGeom>
        </p:spPr>
      </p:pic>
      <p:pic>
        <p:nvPicPr>
          <p:cNvPr id="4" name="Рисунок 3"/>
          <p:cNvPicPr/>
          <p:nvPr/>
        </p:nvPicPr>
        <p:blipFill>
          <a:blip r:embed="rId4"/>
          <a:stretch>
            <a:fillRect/>
          </a:stretch>
        </p:blipFill>
        <p:spPr>
          <a:xfrm>
            <a:off x="11347450" y="3070859"/>
            <a:ext cx="7656830" cy="5037139"/>
          </a:xfrm>
          <a:prstGeom prst="rect">
            <a:avLst/>
          </a:prstGeom>
        </p:spPr>
      </p:pic>
      <p:sp>
        <p:nvSpPr>
          <p:cNvPr id="7" name="Стрелка вправо 6"/>
          <p:cNvSpPr/>
          <p:nvPr/>
        </p:nvSpPr>
        <p:spPr>
          <a:xfrm>
            <a:off x="10158730" y="3633468"/>
            <a:ext cx="838200" cy="419100"/>
          </a:xfrm>
          <a:prstGeom prst="rightArrow">
            <a:avLst/>
          </a:prstGeom>
          <a:solidFill>
            <a:srgbClr val="F4D62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право 7"/>
          <p:cNvSpPr/>
          <p:nvPr/>
        </p:nvSpPr>
        <p:spPr>
          <a:xfrm>
            <a:off x="10158730" y="7158035"/>
            <a:ext cx="838200" cy="419100"/>
          </a:xfrm>
          <a:prstGeom prst="rightArrow">
            <a:avLst/>
          </a:prstGeom>
          <a:solidFill>
            <a:srgbClr val="F4D62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object 3" descr="$PPTXTitle"/>
          <p:cNvSpPr txBox="1">
            <a:spLocks/>
          </p:cNvSpPr>
          <p:nvPr/>
        </p:nvSpPr>
        <p:spPr>
          <a:xfrm>
            <a:off x="1005205" y="886591"/>
            <a:ext cx="1809369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88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pPr marL="508634">
              <a:spcBef>
                <a:spcPts val="100"/>
              </a:spcBef>
            </a:pPr>
            <a:r>
              <a:rPr lang="ru-RU" sz="5400" dirty="0" smtClean="0">
                <a:solidFill>
                  <a:schemeClr val="bg1"/>
                </a:solidFill>
              </a:rPr>
              <a:t>Заполнение</a:t>
            </a:r>
            <a:r>
              <a:rPr lang="ru-RU" sz="5400" dirty="0"/>
              <a:t> </a:t>
            </a:r>
            <a:r>
              <a:rPr lang="ru-RU" sz="5400" dirty="0" smtClean="0">
                <a:solidFill>
                  <a:schemeClr val="bg1"/>
                </a:solidFill>
              </a:rPr>
              <a:t>списков </a:t>
            </a:r>
            <a:r>
              <a:rPr lang="ru-RU" sz="5400" dirty="0" smtClean="0">
                <a:solidFill>
                  <a:srgbClr val="F4D620"/>
                </a:solidFill>
              </a:rPr>
              <a:t>«Номенклатура»</a:t>
            </a:r>
            <a:endParaRPr lang="ru-RU" sz="5150" dirty="0">
              <a:solidFill>
                <a:srgbClr val="F4D6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bject 4"/>
          <p:cNvSpPr txBox="1"/>
          <p:nvPr/>
        </p:nvSpPr>
        <p:spPr>
          <a:xfrm>
            <a:off x="1232670" y="10540643"/>
            <a:ext cx="2055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800" spc="-2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С:Предприятие</a:t>
            </a:r>
            <a:r>
              <a:rPr sz="1800" spc="24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8.5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18026183" y="10557004"/>
            <a:ext cx="1072712" cy="2699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110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Слайд</a:t>
            </a:r>
            <a:r>
              <a:rPr sz="1650" spc="3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50" spc="55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19</a:t>
            </a:r>
            <a:endParaRPr sz="165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36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/>
          <a:stretch>
            <a:fillRect/>
          </a:stretch>
        </p:blipFill>
        <p:spPr>
          <a:xfrm>
            <a:off x="603250" y="3749675"/>
            <a:ext cx="9144000" cy="4572000"/>
          </a:xfrm>
          <a:prstGeom prst="rect">
            <a:avLst/>
          </a:prstGeom>
        </p:spPr>
      </p:pic>
      <p:pic>
        <p:nvPicPr>
          <p:cNvPr id="3" name="Рисунок 2"/>
          <p:cNvPicPr/>
          <p:nvPr/>
        </p:nvPicPr>
        <p:blipFill>
          <a:blip r:embed="rId3"/>
          <a:stretch>
            <a:fillRect/>
          </a:stretch>
        </p:blipFill>
        <p:spPr>
          <a:xfrm>
            <a:off x="10585450" y="3765550"/>
            <a:ext cx="9067800" cy="4572000"/>
          </a:xfrm>
          <a:prstGeom prst="rect">
            <a:avLst/>
          </a:prstGeom>
        </p:spPr>
      </p:pic>
      <p:sp>
        <p:nvSpPr>
          <p:cNvPr id="4" name="object 3" descr="$PPTXTitle"/>
          <p:cNvSpPr txBox="1">
            <a:spLocks/>
          </p:cNvSpPr>
          <p:nvPr/>
        </p:nvSpPr>
        <p:spPr>
          <a:xfrm>
            <a:off x="1005205" y="886591"/>
            <a:ext cx="1809369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88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pPr marL="508634">
              <a:spcBef>
                <a:spcPts val="100"/>
              </a:spcBef>
            </a:pPr>
            <a:r>
              <a:rPr lang="ru-RU" sz="5400" dirty="0" smtClean="0">
                <a:solidFill>
                  <a:schemeClr val="bg1"/>
                </a:solidFill>
              </a:rPr>
              <a:t>Заполнение</a:t>
            </a:r>
            <a:r>
              <a:rPr lang="ru-RU" sz="5400" dirty="0"/>
              <a:t> </a:t>
            </a:r>
            <a:r>
              <a:rPr lang="ru-RU" sz="5400" dirty="0" smtClean="0">
                <a:solidFill>
                  <a:schemeClr val="bg1"/>
                </a:solidFill>
              </a:rPr>
              <a:t>списков </a:t>
            </a:r>
            <a:r>
              <a:rPr lang="ru-RU" sz="5400" dirty="0" smtClean="0">
                <a:solidFill>
                  <a:srgbClr val="F4D620"/>
                </a:solidFill>
              </a:rPr>
              <a:t>«Склады» и «Договоры»</a:t>
            </a:r>
            <a:endParaRPr lang="ru-RU" sz="5150" dirty="0">
              <a:solidFill>
                <a:srgbClr val="F4D6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232670" y="10540643"/>
            <a:ext cx="2055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800" spc="-2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С:Предприятие</a:t>
            </a:r>
            <a:r>
              <a:rPr sz="1800" spc="24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8.5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18026183" y="10557004"/>
            <a:ext cx="1072712" cy="2699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110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Слайд</a:t>
            </a:r>
            <a:r>
              <a:rPr sz="1650" spc="3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50" spc="55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  <a:endParaRPr sz="165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62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1920875"/>
            <a:ext cx="9785350" cy="5255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650" y="2225675"/>
            <a:ext cx="13469938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6188075"/>
            <a:ext cx="10533062" cy="46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bject 3" descr="$PPTXTitle"/>
          <p:cNvSpPr txBox="1">
            <a:spLocks/>
          </p:cNvSpPr>
          <p:nvPr/>
        </p:nvSpPr>
        <p:spPr>
          <a:xfrm>
            <a:off x="1005205" y="886591"/>
            <a:ext cx="1809369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8800" b="1" kern="1200">
                <a:solidFill>
                  <a:schemeClr val="accent1">
                    <a:satMod val="15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extLst/>
          </a:lstStyle>
          <a:p>
            <a:pPr marL="508634">
              <a:spcBef>
                <a:spcPts val="100"/>
              </a:spcBef>
            </a:pPr>
            <a:r>
              <a:rPr lang="ru-RU" sz="5400" dirty="0" smtClean="0">
                <a:solidFill>
                  <a:schemeClr val="bg1"/>
                </a:solidFill>
              </a:rPr>
              <a:t>Отдельный функционал </a:t>
            </a:r>
            <a:r>
              <a:rPr lang="ru-RU" sz="5400" dirty="0" smtClean="0">
                <a:solidFill>
                  <a:srgbClr val="F4D620"/>
                </a:solidFill>
              </a:rPr>
              <a:t>«Проверка запасов»</a:t>
            </a:r>
            <a:endParaRPr lang="ru-RU" sz="5150" dirty="0">
              <a:solidFill>
                <a:srgbClr val="F4D6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1232670" y="10540643"/>
            <a:ext cx="20554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sz="1800" spc="-2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С:Предприятие</a:t>
            </a:r>
            <a:r>
              <a:rPr sz="1800" spc="240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800" spc="-2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8.5</a:t>
            </a:r>
            <a:endParaRPr sz="180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18026183" y="10557004"/>
            <a:ext cx="1072712" cy="26994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110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Слайд</a:t>
            </a:r>
            <a:r>
              <a:rPr sz="1650" spc="35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650" spc="55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21</a:t>
            </a:r>
            <a:endParaRPr sz="1650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90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5921285"/>
            <a:ext cx="20088393" cy="307844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5706" y="10617477"/>
            <a:ext cx="20088860" cy="188595"/>
            <a:chOff x="15706" y="10617477"/>
            <a:chExt cx="20088860" cy="18859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10617477"/>
              <a:ext cx="20088393" cy="1884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10617477"/>
              <a:ext cx="20088393" cy="188475"/>
            </a:xfrm>
            <a:prstGeom prst="rect">
              <a:avLst/>
            </a:prstGeom>
          </p:spPr>
        </p:pic>
      </p:grpSp>
      <p:sp>
        <p:nvSpPr>
          <p:cNvPr id="13" name="Прямоугольник 12"/>
          <p:cNvSpPr/>
          <p:nvPr/>
        </p:nvSpPr>
        <p:spPr>
          <a:xfrm>
            <a:off x="1206500" y="1158875"/>
            <a:ext cx="17602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Разработанная конфигурация успешно решает задачи автоматизации сервисного центра, объединяя складской логистический и финансовый учет в единую удобную цифровую среду. Внедрение системы позволило полностью исключить ошибки ручного ввода, автоматизировать проверку остатков материалов на складах и значительно ускорить обслуживание клиентов за счет моментального формирования готовых печатных документов с суммами прописью.</a:t>
            </a:r>
            <a:endParaRPr lang="ru-RU" sz="3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одульная">
  <a:themeElements>
    <a:clrScheme name="Модульная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Модульная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Моду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103</TotalTime>
  <Words>752</Words>
  <Application>Microsoft Office PowerPoint</Application>
  <PresentationFormat>Произвольный</PresentationFormat>
  <Paragraphs>165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Модульная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|РОЛИ</vt:lpstr>
      <vt:lpstr>ОБЪЕКТЫ  КОНФИГУРАЦИИ - СПРАВОЧНИКИ</vt:lpstr>
      <vt:lpstr>ОБЪЕКТЫ  КОНФИГУРАЦИИ - ДОКУМЕНТЫ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Hyper</cp:lastModifiedBy>
  <cp:revision>12</cp:revision>
  <dcterms:created xsi:type="dcterms:W3CDTF">2026-06-09T20:30:12Z</dcterms:created>
  <dcterms:modified xsi:type="dcterms:W3CDTF">2026-06-09T22:14:30Z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2026-06-09T00:00:00Z</vt:filetime>
  </property>
  <property fmtid="{D5CDD505-2E9C-101B-9397-08002B2CF9AE}" pid="4" name="LastSaved">
    <vt:filetime>2026-06-09T00:00:00Z</vt:filetime>
  </property>
</Properties>
</file>